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79d957b0984cb6" /><Relationship Type="http://schemas.openxmlformats.org/officeDocument/2006/relationships/extended-properties" Target="/docProps/app.xml" Id="R741e72743e5940dd" /><Relationship Type="http://schemas.openxmlformats.org/officeDocument/2006/relationships/officeDocument" Target="/ppt/presentation.xml" Id="Rbe8a70f335b44f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6b15312c84630"/>
  </p:sldMasterIdLst>
  <p:notesMasterIdLst>
    <p:notesMasterId xmlns:r="http://schemas.openxmlformats.org/officeDocument/2006/relationships" r:id="R59d594c722854e8f"/>
  </p:notesMasterIdLst>
  <p:sldIdLst>
    <p:sldId xmlns:r="http://schemas.openxmlformats.org/officeDocument/2006/relationships" id="256" r:id="Rc2546cd6858e4d8b"/>
    <p:sldId xmlns:r="http://schemas.openxmlformats.org/officeDocument/2006/relationships" id="257" r:id="Re1c72da38e7b4211"/>
    <p:sldId xmlns:r="http://schemas.openxmlformats.org/officeDocument/2006/relationships" id="258" r:id="Rae8bbe9e0ba94a76"/>
    <p:sldId xmlns:r="http://schemas.openxmlformats.org/officeDocument/2006/relationships" id="259" r:id="R226c0f240ff6488a"/>
    <p:sldId xmlns:r="http://schemas.openxmlformats.org/officeDocument/2006/relationships" id="260" r:id="R442fc3bf77674966"/>
    <p:sldId xmlns:r="http://schemas.openxmlformats.org/officeDocument/2006/relationships" id="261" r:id="Raba2e07ab27e43a3"/>
    <p:sldId xmlns:r="http://schemas.openxmlformats.org/officeDocument/2006/relationships" id="262" r:id="R17297b5971174301"/>
    <p:sldId xmlns:r="http://schemas.openxmlformats.org/officeDocument/2006/relationships" id="263" r:id="Re562768131cf4c78"/>
    <p:sldId xmlns:r="http://schemas.openxmlformats.org/officeDocument/2006/relationships" id="264" r:id="R9c9343f3ddc9441d"/>
    <p:sldId xmlns:r="http://schemas.openxmlformats.org/officeDocument/2006/relationships" id="265" r:id="Rfe85a89e25c9453e"/>
    <p:sldId xmlns:r="http://schemas.openxmlformats.org/officeDocument/2006/relationships" id="266" r:id="R24ff22b6c9944ada"/>
    <p:sldId xmlns:r="http://schemas.openxmlformats.org/officeDocument/2006/relationships" id="267" r:id="Rd406b8af1a324c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8213b0dd44baa" /><Relationship Type="http://schemas.openxmlformats.org/officeDocument/2006/relationships/slideMaster" Target="/ppt/slideMasters/slideMaster1.xml" Id="Ra846b15312c84630" /><Relationship Type="http://schemas.openxmlformats.org/officeDocument/2006/relationships/notesMaster" Target="/ppt/notesMasters/notesMaster1.xml" Id="R59d594c722854e8f" /><Relationship Type="http://schemas.openxmlformats.org/officeDocument/2006/relationships/presProps" Target="/ppt/presProps.xml" Id="Rfdb3f9a85b364f68" /><Relationship Type="http://schemas.openxmlformats.org/officeDocument/2006/relationships/tableStyles" Target="/ppt/tableStyles.xml" Id="R5ef15391decf46c8" /><Relationship Type="http://schemas.openxmlformats.org/officeDocument/2006/relationships/slide" Target="/ppt/slides/slide1.xml" Id="Rc2546cd6858e4d8b" /><Relationship Type="http://schemas.openxmlformats.org/officeDocument/2006/relationships/slide" Target="/ppt/slides/slide2.xml" Id="Re1c72da38e7b4211" /><Relationship Type="http://schemas.openxmlformats.org/officeDocument/2006/relationships/slide" Target="/ppt/slides/slide3.xml" Id="Rae8bbe9e0ba94a76" /><Relationship Type="http://schemas.openxmlformats.org/officeDocument/2006/relationships/slide" Target="/ppt/slides/slide4.xml" Id="R226c0f240ff6488a" /><Relationship Type="http://schemas.openxmlformats.org/officeDocument/2006/relationships/slide" Target="/ppt/slides/slide5.xml" Id="R442fc3bf77674966" /><Relationship Type="http://schemas.openxmlformats.org/officeDocument/2006/relationships/slide" Target="/ppt/slides/slide6.xml" Id="Raba2e07ab27e43a3" /><Relationship Type="http://schemas.openxmlformats.org/officeDocument/2006/relationships/slide" Target="/ppt/slides/slide7.xml" Id="R17297b5971174301" /><Relationship Type="http://schemas.openxmlformats.org/officeDocument/2006/relationships/slide" Target="/ppt/slides/slide8.xml" Id="Re562768131cf4c78" /><Relationship Type="http://schemas.openxmlformats.org/officeDocument/2006/relationships/slide" Target="/ppt/slides/slide9.xml" Id="R9c9343f3ddc9441d" /><Relationship Type="http://schemas.openxmlformats.org/officeDocument/2006/relationships/slide" Target="/ppt/slides/slide10.xml" Id="Rfe85a89e25c9453e" /><Relationship Type="http://schemas.openxmlformats.org/officeDocument/2006/relationships/slide" Target="/ppt/slides/slide11.xml" Id="R24ff22b6c9944ada" /><Relationship Type="http://schemas.openxmlformats.org/officeDocument/2006/relationships/slide" Target="/ppt/slides/slide12.xml" Id="Rd406b8af1a324c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0326e09ed440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e681b993e74c2a" /><Relationship Type="http://schemas.openxmlformats.org/officeDocument/2006/relationships/notesMaster" Target="/ppt/notesMasters/notesMaster1.xml" Id="R815d0a5b30b942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9db4957e794fd0" /><Relationship Type="http://schemas.openxmlformats.org/officeDocument/2006/relationships/notesMaster" Target="/ppt/notesMasters/notesMaster1.xml" Id="R9897d50c2dfc4b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5da12380fd4d62" /><Relationship Type="http://schemas.openxmlformats.org/officeDocument/2006/relationships/notesMaster" Target="/ppt/notesMasters/notesMaster1.xml" Id="R64c2cfe72df548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9df256aeb7436f" /><Relationship Type="http://schemas.openxmlformats.org/officeDocument/2006/relationships/notesMaster" Target="/ppt/notesMasters/notesMaster1.xml" Id="R4933563c8ef74b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dfe3a623bd4371" /><Relationship Type="http://schemas.openxmlformats.org/officeDocument/2006/relationships/notesMaster" Target="/ppt/notesMasters/notesMaster1.xml" Id="R839f5097905f40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64944360464489" /><Relationship Type="http://schemas.openxmlformats.org/officeDocument/2006/relationships/notesMaster" Target="/ppt/notesMasters/notesMaster1.xml" Id="R9b8571b734c645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19906735a341c8" /><Relationship Type="http://schemas.openxmlformats.org/officeDocument/2006/relationships/notesMaster" Target="/ppt/notesMasters/notesMaster1.xml" Id="R9448e64a4ece4e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7305908557483c" /><Relationship Type="http://schemas.openxmlformats.org/officeDocument/2006/relationships/notesMaster" Target="/ppt/notesMasters/notesMaster1.xml" Id="Rf9d3f42c029b4a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8042a983b74c89" /><Relationship Type="http://schemas.openxmlformats.org/officeDocument/2006/relationships/notesMaster" Target="/ppt/notesMasters/notesMaster1.xml" Id="Rb961192ff87245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e7245357254cdc" /><Relationship Type="http://schemas.openxmlformats.org/officeDocument/2006/relationships/notesMaster" Target="/ppt/notesMasters/notesMaster1.xml" Id="R1e5a1630ff334e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184d4f2e244f65" /><Relationship Type="http://schemas.openxmlformats.org/officeDocument/2006/relationships/notesMaster" Target="/ppt/notesMasters/notesMaster1.xml" Id="R8de70b29bbe546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f7dfe08cfb48d3" /><Relationship Type="http://schemas.openxmlformats.org/officeDocument/2006/relationships/notesMaster" Target="/ppt/notesMasters/notesMaster1.xml" Id="R5d5b6eec2f6d41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CYPHER project code and project-owner screenshots. Screenshots show development versions. Browser chrome and taskbar have been removed and image proportions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ce6ecb70b45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d8d476c424b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6b938647f41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0f5681fcc48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a75ef7ca345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232151fcc45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E18E5B-15AB-4784-B909-FA9A8EF31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C5C7D3-DBEC-4ACA-B14F-B4E2B0A163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DB702A-9817-4DB4-B74D-23D5E189E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94362F-C8C7-4C85-9724-CFBAF1BD8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05260C-45B7-4299-A6C6-0463CF5EE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CBA83A-5713-4A5F-BA80-9EF91F9E3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54E13B-C57F-418B-8434-4BF93FF372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05D86E-AAD3-4A14-995C-4A21104F03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A292B1-AD23-4049-8C39-F5E41A4197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AB270C-6D7E-4ABB-B157-9BB89B4F12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ef69fc0594dac" /><Relationship Type="http://schemas.openxmlformats.org/officeDocument/2006/relationships/slideLayout" Target="/ppt/slideLayouts/slideLayout1.xml" Id="R91b3270f0de34a1b" /><Relationship Type="http://schemas.openxmlformats.org/officeDocument/2006/relationships/slideLayout" Target="/ppt/slideLayouts/slideLayout2.xml" Id="R6fe192dd07374945" /><Relationship Type="http://schemas.openxmlformats.org/officeDocument/2006/relationships/slideLayout" Target="/ppt/slideLayouts/slideLayout3.xml" Id="Rb4339c4679c14d57" /><Relationship Type="http://schemas.openxmlformats.org/officeDocument/2006/relationships/slideLayout" Target="/ppt/slideLayouts/slideLayout4.xml" Id="R18cd414587c44051" /><Relationship Type="http://schemas.openxmlformats.org/officeDocument/2006/relationships/slideLayout" Target="/ppt/slideLayouts/slideLayout5.xml" Id="R8808937baccd4a89" /><Relationship Type="http://schemas.openxmlformats.org/officeDocument/2006/relationships/slideLayout" Target="/ppt/slideLayouts/slideLayout6.xml" Id="R421c2480789c4f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3270f0de34a1b"/>
    <p:sldLayoutId xmlns:r="http://schemas.openxmlformats.org/officeDocument/2006/relationships" id="2147483650" r:id="R6fe192dd07374945"/>
    <p:sldLayoutId xmlns:r="http://schemas.openxmlformats.org/officeDocument/2006/relationships" id="2147483651" r:id="Rb4339c4679c14d57"/>
    <p:sldLayoutId xmlns:r="http://schemas.openxmlformats.org/officeDocument/2006/relationships" id="2147483652" r:id="R18cd414587c44051"/>
    <p:sldLayoutId xmlns:r="http://schemas.openxmlformats.org/officeDocument/2006/relationships" id="2147483653" r:id="R8808937baccd4a89"/>
    <p:sldLayoutId xmlns:r="http://schemas.openxmlformats.org/officeDocument/2006/relationships" id="2147483654" r:id="R421c2480789c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76dfd103944d4" /><Relationship Type="http://schemas.openxmlformats.org/officeDocument/2006/relationships/notesSlide" Target="/ppt/notesSlides/notesSlide1.xml" Id="Rb50804153b02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b6f0037a24da0" /><Relationship Type="http://schemas.openxmlformats.org/officeDocument/2006/relationships/notesSlide" Target="/ppt/notesSlides/notesSlide2.xml" Id="R98c1824abec540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968b5d6024f9e" /><Relationship Type="http://schemas.openxmlformats.org/officeDocument/2006/relationships/notesSlide" Target="/ppt/notesSlides/notesSlide3.xml" Id="Rcde0b20550be4d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d548bdef947ba" /><Relationship Type="http://schemas.openxmlformats.org/officeDocument/2006/relationships/image" Target="/ppt/media/image.png" Id="R4a6d1fd0c18d42e2" /><Relationship Type="http://schemas.openxmlformats.org/officeDocument/2006/relationships/notesSlide" Target="/ppt/notesSlides/notesSlide4.xml" Id="R3355a3da65874c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ce2a0811d45ae" /><Relationship Type="http://schemas.openxmlformats.org/officeDocument/2006/relationships/notesSlide" Target="/ppt/notesSlides/notesSlide5.xml" Id="R296620764c4a4b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021761fde4298" /><Relationship Type="http://schemas.openxmlformats.org/officeDocument/2006/relationships/notesSlide" Target="/ppt/notesSlides/notesSlide6.xml" Id="Re6c2b0cade9842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cd37fab7b4138" /><Relationship Type="http://schemas.openxmlformats.org/officeDocument/2006/relationships/image" Target="/ppt/media/image2.png" Id="R96d48dca1be74818" /><Relationship Type="http://schemas.openxmlformats.org/officeDocument/2006/relationships/notesSlide" Target="/ppt/notesSlides/notesSlide7.xml" Id="Rb3270e821f8744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9f74934294b94" /><Relationship Type="http://schemas.openxmlformats.org/officeDocument/2006/relationships/notesSlide" Target="/ppt/notesSlides/notesSlide8.xml" Id="Rf1a8808d94db42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23a5fb8d345ee" /><Relationship Type="http://schemas.openxmlformats.org/officeDocument/2006/relationships/notesSlide" Target="/ppt/notesSlides/notesSlide9.xml" Id="R74992a6fbe494f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e4cc21cde4690" /><Relationship Type="http://schemas.openxmlformats.org/officeDocument/2006/relationships/notesSlide" Target="/ppt/notesSlides/notesSlide10.xml" Id="Rada4509265974f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f6cf2d5834839" /><Relationship Type="http://schemas.openxmlformats.org/officeDocument/2006/relationships/notesSlide" Target="/ppt/notesSlides/notesSlide11.xml" Id="R30b6461bb8964b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72156856646a7" /><Relationship Type="http://schemas.openxmlformats.org/officeDocument/2006/relationships/notesSlide" Target="/ppt/notesSlides/notesSlide12.xml" Id="R2bfbc41c426245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62E8C-66BD-4EC2-97FB-97A4E5A6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CYPHER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4C1A7-FBF7-43AB-B2B3-0330DFDB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AI conversation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8B5D0-FB74-4D2B-8413-2ABC7DF3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1F66A-9B65-411B-9DA5-1128B69F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D8A6F-E83F-4EBF-BB2B-0E7A0548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A platform for practising English through realistic conversations.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55C5E-F85F-4F5D-9B5B-697B8595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Voice or text answers. Adaptive partners. Personal feedback.</a:t>
            </a:r>
          </a:p>
        </p:txBody>
      </p:sp>
    </p:spTree>
    <p:extLst>
      <p:ext uri="{BB962C8B-B14F-4D97-AF65-F5344CB8AC3E}">
        <p14:creationId xmlns:p14="http://schemas.microsoft.com/office/powerpoint/2010/main" val="555808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25B76-CD54-48A6-9A15-A3DF3B8B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Presentation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8C15E-1DB3-4A29-AAF4-3410370C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A clear view of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32055-2669-49C6-B479-7436203F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6D9D5-7634-4E16-81AB-1E44705C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7D1B7-3C12-424F-8BAF-5DE61414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01  The learning need and 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97C0A-767C-448B-B559-F367B8F5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02  Rooms, levels and conversation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03  Feedback, architecture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000440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0832B-1E78-422E-8CCC-6E02A145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The learning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0992F-8218-47B8-8985-4950560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Practice before the real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158CE-E8A9-4A86-98DF-2BE8F11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CC50E-7B48-4B03-8237-0894D5B0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1F84F-FB73-4328-BF9A-998998AB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Interviews and academic discussions require answers in context. Knowing vocabulary alone does not prepare a learner for every situation.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DC927-C526-44FB-BFCE-B4E9C59A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CYPHER gives learners a simulated partner, opportunities to retry and feedback on their answers.</a:t>
            </a:r>
          </a:p>
        </p:txBody>
      </p:sp>
    </p:spTree>
    <p:extLst>
      <p:ext uri="{BB962C8B-B14F-4D97-AF65-F5344CB8AC3E}">
        <p14:creationId xmlns:p14="http://schemas.microsoft.com/office/powerpoint/2010/main" val="193586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08185-D804-46A9-AE64-E62381BAA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d1fd0c18d42e2"/>
          <a:stretch xmlns:a="http://schemas.openxmlformats.org/drawingml/2006/main"/>
        </p:blipFill>
        <p:spPr>
          <a:xfrm xmlns:a="http://schemas.openxmlformats.org/drawingml/2006/main">
            <a:off x="2476930" y="2952750"/>
            <a:ext cx="7238140" cy="35347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3E0E2-F04D-4803-B82D-C5482EE6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The conversation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09C69-7735-4FBD-A3AC-39236D5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Real situations in one 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DD826-D87A-4510-840B-D8F731DC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BBA79-409E-43B9-AF55-144EA44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66FCB-C115-417C-952C-36904EC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7ACA7"/>
                </a:solidFill>
              </a:defRPr>
            </a:defPPr>
            <a:lvl1pPr>
              <a:defRPr sz="1875" b="0">
                <a:solidFill>
                  <a:srgbClr val="A7ACA7"/>
                </a:solidFill>
              </a:defRPr>
            </a:lvl1pPr>
            <a:lvl2pPr>
              <a:defRPr sz="1875" b="0">
                <a:solidFill>
                  <a:srgbClr val="A7ACA7"/>
                </a:solidFill>
              </a:defRPr>
            </a:lvl2pPr>
            <a:lvl3pPr>
              <a:defRPr sz="1875" b="0">
                <a:solidFill>
                  <a:srgbClr val="A7ACA7"/>
                </a:solidFill>
              </a:defRPr>
            </a:lvl3pPr>
            <a:lvl4pPr>
              <a:defRPr sz="1875" b="0">
                <a:solidFill>
                  <a:srgbClr val="A7ACA7"/>
                </a:solidFill>
              </a:defRPr>
            </a:lvl4pPr>
            <a:lvl5pPr>
              <a:defRPr sz="1875" b="0">
                <a:solidFill>
                  <a:srgbClr val="A7ACA7"/>
                </a:solidFill>
              </a:defRPr>
            </a:lvl5pPr>
            <a:lvl6pPr>
              <a:defRPr sz="1875" b="0">
                <a:solidFill>
                  <a:srgbClr val="A7ACA7"/>
                </a:solidFill>
              </a:defRPr>
            </a:lvl6pPr>
            <a:lvl7pPr>
              <a:defRPr sz="1875" b="0">
                <a:solidFill>
                  <a:srgbClr val="A7ACA7"/>
                </a:solidFill>
              </a:defRPr>
            </a:lvl7pPr>
            <a:lvl8pPr>
              <a:defRPr sz="1875" b="0">
                <a:solidFill>
                  <a:srgbClr val="A7ACA7"/>
                </a:solidFill>
              </a:defRPr>
            </a:lvl8pPr>
            <a:lvl9pPr>
              <a:defRPr sz="1875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7ACA7"/>
                </a:solidFill>
              </a:defRPr>
            </a:pPr>
            <a:r>
              <a:rPr sz="1875" b="0">
                <a:solidFill>
                  <a:srgbClr val="A7ACA7"/>
                </a:solidFill>
              </a:rPr>
              <a:t>Users select a room before starting a conversation.</a:t>
            </a:r>
          </a:p>
        </p:txBody>
      </p:sp>
    </p:spTree>
    <p:extLst>
      <p:ext uri="{BB962C8B-B14F-4D97-AF65-F5344CB8AC3E}">
        <p14:creationId xmlns:p14="http://schemas.microsoft.com/office/powerpoint/2010/main" val="384377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4D8A2-1DA4-4C75-8E57-CB7F059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Six practice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C1CB3-9BC9-4305-AE91-D15FCA4A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A purpose for every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8A998-DF7A-4FA8-B4E2-0E7C38E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76FBE-D383-46E2-A666-528F2E71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A6989-470F-4D61-BD8E-630CFB38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Technical interview</a:t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Behavioral interview</a:t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University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42231-0876-466D-ACA2-F343D497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Campus conversation</a:t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Coffee conversation</a:t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Salary negotiation</a:t>
            </a:r>
          </a:p>
        </p:txBody>
      </p:sp>
    </p:spTree>
    <p:extLst>
      <p:ext uri="{BB962C8B-B14F-4D97-AF65-F5344CB8AC3E}">
        <p14:creationId xmlns:p14="http://schemas.microsoft.com/office/powerpoint/2010/main" val="1716115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614A8-B7AF-4509-9425-3224607B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Difficulty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15513-DB99-44AC-9BF0-CD611D9B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A challenge suited to the learner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95EB9-DA37-4C72-BC26-4D80FBE7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8E927-6433-4C8F-8693-5FEA006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CA7DA-DF01-484A-A6C2-B673144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Beginner: 9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Intermediate: 12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Advanced: 15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6E96D-1222-4932-9AC2-FF34938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Short prompts and support at beginner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More depth and precision at higher levels.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No countdown timer.</a:t>
            </a:r>
          </a:p>
        </p:txBody>
      </p:sp>
    </p:spTree>
    <p:extLst>
      <p:ext uri="{BB962C8B-B14F-4D97-AF65-F5344CB8AC3E}">
        <p14:creationId xmlns:p14="http://schemas.microsoft.com/office/powerpoint/2010/main" val="486624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003DA-63CA-4E9A-9389-E5BB02750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48dca1be74818"/>
          <a:stretch xmlns:a="http://schemas.openxmlformats.org/drawingml/2006/main"/>
        </p:blipFill>
        <p:spPr>
          <a:xfrm xmlns:a="http://schemas.openxmlformats.org/drawingml/2006/main">
            <a:off x="2476930" y="2952750"/>
            <a:ext cx="7238140" cy="35347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F7268-1A32-478F-AAEB-CCB92744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Voice and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44C23-7AF1-4220-9600-623890C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Two ways to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43F02-9AB1-4E82-87E1-B9BEDCE3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FBE83-A3B6-49C2-B118-44F5A2BC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50187-F2F2-4202-B564-7CEDCC7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7ACA7"/>
                </a:solidFill>
              </a:defRPr>
            </a:defPPr>
            <a:lvl1pPr>
              <a:defRPr sz="1875" b="0">
                <a:solidFill>
                  <a:srgbClr val="A7ACA7"/>
                </a:solidFill>
              </a:defRPr>
            </a:lvl1pPr>
            <a:lvl2pPr>
              <a:defRPr sz="1875" b="0">
                <a:solidFill>
                  <a:srgbClr val="A7ACA7"/>
                </a:solidFill>
              </a:defRPr>
            </a:lvl2pPr>
            <a:lvl3pPr>
              <a:defRPr sz="1875" b="0">
                <a:solidFill>
                  <a:srgbClr val="A7ACA7"/>
                </a:solidFill>
              </a:defRPr>
            </a:lvl3pPr>
            <a:lvl4pPr>
              <a:defRPr sz="1875" b="0">
                <a:solidFill>
                  <a:srgbClr val="A7ACA7"/>
                </a:solidFill>
              </a:defRPr>
            </a:lvl4pPr>
            <a:lvl5pPr>
              <a:defRPr sz="1875" b="0">
                <a:solidFill>
                  <a:srgbClr val="A7ACA7"/>
                </a:solidFill>
              </a:defRPr>
            </a:lvl5pPr>
            <a:lvl6pPr>
              <a:defRPr sz="1875" b="0">
                <a:solidFill>
                  <a:srgbClr val="A7ACA7"/>
                </a:solidFill>
              </a:defRPr>
            </a:lvl6pPr>
            <a:lvl7pPr>
              <a:defRPr sz="1875" b="0">
                <a:solidFill>
                  <a:srgbClr val="A7ACA7"/>
                </a:solidFill>
              </a:defRPr>
            </a:lvl7pPr>
            <a:lvl8pPr>
              <a:defRPr sz="1875" b="0">
                <a:solidFill>
                  <a:srgbClr val="A7ACA7"/>
                </a:solidFill>
              </a:defRPr>
            </a:lvl8pPr>
            <a:lvl9pPr>
              <a:defRPr sz="1875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7ACA7"/>
                </a:solidFill>
              </a:defRPr>
            </a:pPr>
            <a:r>
              <a:rPr sz="1875" b="0">
                <a:solidFill>
                  <a:srgbClr val="A7ACA7"/>
                </a:solidFill>
              </a:rPr>
              <a:t>Users can type an answer or record it with the microphone.</a:t>
            </a:r>
          </a:p>
        </p:txBody>
      </p:sp>
    </p:spTree>
    <p:extLst>
      <p:ext uri="{BB962C8B-B14F-4D97-AF65-F5344CB8AC3E}">
        <p14:creationId xmlns:p14="http://schemas.microsoft.com/office/powerpoint/2010/main" val="602201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748F3-80B1-4FE4-BB0C-F081CE1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Conversation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3FF2F-0143-4408-99E9-DA304AF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Guidance when an answer is difficult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0FAFD-D5D3-446C-89FD-8E3EA91A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E1185-832A-4699-B02B-A64D8ABD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D179B-05B0-4916-AFBA-27953DEA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1. The AI reviews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2. The user can retry, up to three attempts per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35C8B-C97C-4C40-9AC6-E2765A66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3. An explicit “I don’t know” skips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4. The session moves on after the answer or the final attempt.</a:t>
            </a:r>
          </a:p>
        </p:txBody>
      </p:sp>
    </p:spTree>
    <p:extLst>
      <p:ext uri="{BB962C8B-B14F-4D97-AF65-F5344CB8AC3E}">
        <p14:creationId xmlns:p14="http://schemas.microsoft.com/office/powerpoint/2010/main" val="1382378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D7186-9E05-4CC9-B501-17B73BE8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Response-based pressure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EE39A-C322-47C1-9DDD-51C16D9B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The partner reacts to the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C5E47-2436-4C4B-BA70-35114979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02264-FF65-4BE2-97C7-2529CCD3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09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F9529-C13F-4A9D-9D8E-36C44A1B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Clear, relevant and developed answers can reduce pressure.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Unclear, brief or uncertain responses can increase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B23FB-F2F2-4976-8AF9-AC13E12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The interface reflects the partner’s mood.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Reaching maximum pressure ends the conversation and contributes to the results.</a:t>
            </a:r>
          </a:p>
        </p:txBody>
      </p:sp>
    </p:spTree>
    <p:extLst>
      <p:ext uri="{BB962C8B-B14F-4D97-AF65-F5344CB8AC3E}">
        <p14:creationId xmlns:p14="http://schemas.microsoft.com/office/powerpoint/2010/main" val="428506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B59CA-174C-472E-9814-78B7327D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Feedback and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5534E-678F-476E-8582-C6C2008E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A personal record of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DF642-D415-460D-ACB5-F9ECF50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17BBB-1949-4654-872E-741A122D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843EE-CB40-42E9-8BD6-FD4F93F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AI estimate of CEFR level and overall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Feedback on grammar, vocabulary, coherence and task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ED39-6352-418A-AF8B-BB02D892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Suggested corrections and practice drills.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Saved sessions and previous reports in the user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AI feedback is not an official language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367743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2AC6F-DD9E-4655-B898-C1772B7A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Technical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3413E-3B2A-427D-81B6-98945A89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Frontend, API and AI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A57A9-6ED0-4949-A71C-C663A6D3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A5431-78D2-4486-B79F-D700DE7B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5FF27-0B27-43D1-8296-4AA5DCE5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React + Vite</a:t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Interface, microphone recording and audio playback. GSAP and Framer Motion support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Python + FastAPI</a:t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Authentication, conversations and assessment endpoints.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DA935-A133-47F8-8F66-B9375BF1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Groq</a:t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Conversation generation and response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Whisper and Edge TTS</a:t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Audio transcription and generated speech.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SQLite</a:t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User accounts and practice history.</a:t>
            </a:r>
          </a:p>
        </p:txBody>
      </p:sp>
    </p:spTree>
    <p:extLst>
      <p:ext uri="{BB962C8B-B14F-4D97-AF65-F5344CB8AC3E}">
        <p14:creationId xmlns:p14="http://schemas.microsoft.com/office/powerpoint/2010/main" val="5573282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860C1-5820-4ACC-A448-D2D1EBE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4F1EC"/>
                </a:solidFill>
              </a:defRPr>
            </a:defPPr>
            <a:lvl1pPr>
              <a:defRPr sz="3900" b="1">
                <a:solidFill>
                  <a:srgbClr val="F4F1EC"/>
                </a:solidFill>
              </a:defRPr>
            </a:lvl1pPr>
            <a:lvl2pPr>
              <a:defRPr sz="3900" b="1">
                <a:solidFill>
                  <a:srgbClr val="F4F1EC"/>
                </a:solidFill>
              </a:defRPr>
            </a:lvl2pPr>
            <a:lvl3pPr>
              <a:defRPr sz="3900" b="1">
                <a:solidFill>
                  <a:srgbClr val="F4F1EC"/>
                </a:solidFill>
              </a:defRPr>
            </a:lvl3pPr>
            <a:lvl4pPr>
              <a:defRPr sz="3900" b="1">
                <a:solidFill>
                  <a:srgbClr val="F4F1EC"/>
                </a:solidFill>
              </a:defRPr>
            </a:lvl4pPr>
            <a:lvl5pPr>
              <a:defRPr sz="3900" b="1">
                <a:solidFill>
                  <a:srgbClr val="F4F1EC"/>
                </a:solidFill>
              </a:defRPr>
            </a:lvl5pPr>
            <a:lvl6pPr>
              <a:defRPr sz="3900" b="1">
                <a:solidFill>
                  <a:srgbClr val="F4F1EC"/>
                </a:solidFill>
              </a:defRPr>
            </a:lvl6pPr>
            <a:lvl7pPr>
              <a:defRPr sz="3900" b="1">
                <a:solidFill>
                  <a:srgbClr val="F4F1EC"/>
                </a:solidFill>
              </a:defRPr>
            </a:lvl7pPr>
            <a:lvl8pPr>
              <a:defRPr sz="3900" b="1">
                <a:solidFill>
                  <a:srgbClr val="F4F1EC"/>
                </a:solidFill>
              </a:defRPr>
            </a:lvl8pPr>
            <a:lvl9pPr>
              <a:defRPr sz="3900" b="1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4F1EC"/>
                </a:solidFill>
              </a:defRPr>
            </a:pPr>
            <a:r>
              <a:rPr sz="3900" b="1">
                <a:solidFill>
                  <a:srgbClr val="F4F1EC"/>
                </a:solidFill>
              </a:rPr>
              <a:t>Summary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38B95-2A8A-41E2-874D-4B4BA9BD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896F"/>
                </a:solidFill>
              </a:defRPr>
            </a:defPPr>
            <a:lvl1pPr>
              <a:defRPr sz="2250" b="0">
                <a:solidFill>
                  <a:srgbClr val="FF896F"/>
                </a:solidFill>
              </a:defRPr>
            </a:lvl1pPr>
            <a:lvl2pPr>
              <a:defRPr sz="2250" b="0">
                <a:solidFill>
                  <a:srgbClr val="FF896F"/>
                </a:solidFill>
              </a:defRPr>
            </a:lvl2pPr>
            <a:lvl3pPr>
              <a:defRPr sz="2250" b="0">
                <a:solidFill>
                  <a:srgbClr val="FF896F"/>
                </a:solidFill>
              </a:defRPr>
            </a:lvl3pPr>
            <a:lvl4pPr>
              <a:defRPr sz="2250" b="0">
                <a:solidFill>
                  <a:srgbClr val="FF896F"/>
                </a:solidFill>
              </a:defRPr>
            </a:lvl4pPr>
            <a:lvl5pPr>
              <a:defRPr sz="2250" b="0">
                <a:solidFill>
                  <a:srgbClr val="FF896F"/>
                </a:solidFill>
              </a:defRPr>
            </a:lvl5pPr>
            <a:lvl6pPr>
              <a:defRPr sz="2250" b="0">
                <a:solidFill>
                  <a:srgbClr val="FF896F"/>
                </a:solidFill>
              </a:defRPr>
            </a:lvl6pPr>
            <a:lvl7pPr>
              <a:defRPr sz="2250" b="0">
                <a:solidFill>
                  <a:srgbClr val="FF896F"/>
                </a:solidFill>
              </a:defRPr>
            </a:lvl7pPr>
            <a:lvl8pPr>
              <a:defRPr sz="2250" b="0">
                <a:solidFill>
                  <a:srgbClr val="FF896F"/>
                </a:solidFill>
              </a:defRPr>
            </a:lvl8pPr>
            <a:lvl9pPr>
              <a:defRPr sz="2250" b="0">
                <a:solidFill>
                  <a:srgbClr val="FF896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896F"/>
                </a:solidFill>
              </a:defRPr>
            </a:pPr>
            <a:r>
              <a:rPr sz="2250" b="0">
                <a:solidFill>
                  <a:srgbClr val="FF896F"/>
                </a:solidFill>
              </a:rPr>
              <a:t>Realistic English conversation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3AA36-477D-49D7-A7EC-1FC0D55E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7ACA7"/>
                </a:solidFill>
              </a:defRPr>
            </a:defPPr>
            <a:lvl1pPr>
              <a:defRPr sz="1050" b="1">
                <a:solidFill>
                  <a:srgbClr val="A7ACA7"/>
                </a:solidFill>
              </a:defRPr>
            </a:lvl1pPr>
            <a:lvl2pPr>
              <a:defRPr sz="1050" b="1">
                <a:solidFill>
                  <a:srgbClr val="A7ACA7"/>
                </a:solidFill>
              </a:defRPr>
            </a:lvl2pPr>
            <a:lvl3pPr>
              <a:defRPr sz="1050" b="1">
                <a:solidFill>
                  <a:srgbClr val="A7ACA7"/>
                </a:solidFill>
              </a:defRPr>
            </a:lvl3pPr>
            <a:lvl4pPr>
              <a:defRPr sz="1050" b="1">
                <a:solidFill>
                  <a:srgbClr val="A7ACA7"/>
                </a:solidFill>
              </a:defRPr>
            </a:lvl4pPr>
            <a:lvl5pPr>
              <a:defRPr sz="1050" b="1">
                <a:solidFill>
                  <a:srgbClr val="A7ACA7"/>
                </a:solidFill>
              </a:defRPr>
            </a:lvl5pPr>
            <a:lvl6pPr>
              <a:defRPr sz="1050" b="1">
                <a:solidFill>
                  <a:srgbClr val="A7ACA7"/>
                </a:solidFill>
              </a:defRPr>
            </a:lvl6pPr>
            <a:lvl7pPr>
              <a:defRPr sz="1050" b="1">
                <a:solidFill>
                  <a:srgbClr val="A7ACA7"/>
                </a:solidFill>
              </a:defRPr>
            </a:lvl7pPr>
            <a:lvl8pPr>
              <a:defRPr sz="1050" b="1">
                <a:solidFill>
                  <a:srgbClr val="A7ACA7"/>
                </a:solidFill>
              </a:defRPr>
            </a:lvl8pPr>
            <a:lvl9pPr>
              <a:defRPr sz="1050" b="1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7ACA7"/>
                </a:solidFill>
              </a:defRPr>
            </a:pPr>
            <a:r>
              <a:rPr sz="1050" b="1">
                <a:solidFill>
                  <a:srgbClr val="A7ACA7"/>
                </a:solidFill>
              </a:rPr>
              <a:t>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26FF5-BA59-4584-81DC-CD4B1653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ACA7"/>
                </a:solidFill>
              </a:defRPr>
            </a:defPPr>
            <a:lvl1pPr>
              <a:defRPr sz="1050" b="0">
                <a:solidFill>
                  <a:srgbClr val="A7ACA7"/>
                </a:solidFill>
              </a:defRPr>
            </a:lvl1pPr>
            <a:lvl2pPr>
              <a:defRPr sz="1050" b="0">
                <a:solidFill>
                  <a:srgbClr val="A7ACA7"/>
                </a:solidFill>
              </a:defRPr>
            </a:lvl2pPr>
            <a:lvl3pPr>
              <a:defRPr sz="1050" b="0">
                <a:solidFill>
                  <a:srgbClr val="A7ACA7"/>
                </a:solidFill>
              </a:defRPr>
            </a:lvl3pPr>
            <a:lvl4pPr>
              <a:defRPr sz="1050" b="0">
                <a:solidFill>
                  <a:srgbClr val="A7ACA7"/>
                </a:solidFill>
              </a:defRPr>
            </a:lvl4pPr>
            <a:lvl5pPr>
              <a:defRPr sz="1050" b="0">
                <a:solidFill>
                  <a:srgbClr val="A7ACA7"/>
                </a:solidFill>
              </a:defRPr>
            </a:lvl5pPr>
            <a:lvl6pPr>
              <a:defRPr sz="1050" b="0">
                <a:solidFill>
                  <a:srgbClr val="A7ACA7"/>
                </a:solidFill>
              </a:defRPr>
            </a:lvl6pPr>
            <a:lvl7pPr>
              <a:defRPr sz="1050" b="0">
                <a:solidFill>
                  <a:srgbClr val="A7ACA7"/>
                </a:solidFill>
              </a:defRPr>
            </a:lvl7pPr>
            <a:lvl8pPr>
              <a:defRPr sz="1050" b="0">
                <a:solidFill>
                  <a:srgbClr val="A7ACA7"/>
                </a:solidFill>
              </a:defRPr>
            </a:lvl8pPr>
            <a:lvl9pPr>
              <a:defRPr sz="1050" b="0">
                <a:solidFill>
                  <a:srgbClr val="A7AC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ACA7"/>
                </a:solidFill>
              </a:defRPr>
            </a:pPr>
            <a:r>
              <a:rPr sz="1050" b="0">
                <a:solidFill>
                  <a:srgbClr val="A7ACA7"/>
                </a:solidFill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A5A4F-48FB-4E1B-81CE-5BE2197A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4F1EC"/>
                </a:solidFill>
              </a:defRPr>
            </a:defPPr>
            <a:lvl1pPr>
              <a:defRPr sz="2100" b="0">
                <a:solidFill>
                  <a:srgbClr val="F4F1EC"/>
                </a:solidFill>
              </a:defRPr>
            </a:lvl1pPr>
            <a:lvl2pPr>
              <a:defRPr sz="2100" b="0">
                <a:solidFill>
                  <a:srgbClr val="F4F1EC"/>
                </a:solidFill>
              </a:defRPr>
            </a:lvl2pPr>
            <a:lvl3pPr>
              <a:defRPr sz="2100" b="0">
                <a:solidFill>
                  <a:srgbClr val="F4F1EC"/>
                </a:solidFill>
              </a:defRPr>
            </a:lvl3pPr>
            <a:lvl4pPr>
              <a:defRPr sz="2100" b="0">
                <a:solidFill>
                  <a:srgbClr val="F4F1EC"/>
                </a:solidFill>
              </a:defRPr>
            </a:lvl4pPr>
            <a:lvl5pPr>
              <a:defRPr sz="2100" b="0">
                <a:solidFill>
                  <a:srgbClr val="F4F1EC"/>
                </a:solidFill>
              </a:defRPr>
            </a:lvl5pPr>
            <a:lvl6pPr>
              <a:defRPr sz="2100" b="0">
                <a:solidFill>
                  <a:srgbClr val="F4F1EC"/>
                </a:solidFill>
              </a:defRPr>
            </a:lvl6pPr>
            <a:lvl7pPr>
              <a:defRPr sz="2100" b="0">
                <a:solidFill>
                  <a:srgbClr val="F4F1EC"/>
                </a:solidFill>
              </a:defRPr>
            </a:lvl7pPr>
            <a:lvl8pPr>
              <a:defRPr sz="2100" b="0">
                <a:solidFill>
                  <a:srgbClr val="F4F1EC"/>
                </a:solidFill>
              </a:defRPr>
            </a:lvl8pPr>
            <a:lvl9pPr>
              <a:defRPr sz="2100" b="0">
                <a:solidFill>
                  <a:srgbClr val="F4F1E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Current product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4F1EC"/>
                </a:solidFill>
              </a:defRPr>
            </a:pPr>
            <a:r>
              <a:rPr sz="2100" b="0">
                <a:solidFill>
                  <a:srgbClr val="F4F1EC"/>
                </a:solidFill>
              </a:rPr>
              <a:t>Six scenarios, three difficulty levels, voice and text interaction, and saved personal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D80E1-52BF-4996-886E-40F461A9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0B8B2"/>
                </a:solidFill>
              </a:defRPr>
            </a:defPPr>
            <a:lvl1pPr>
              <a:defRPr sz="2100" b="0">
                <a:solidFill>
                  <a:srgbClr val="B0B8B2"/>
                </a:solidFill>
              </a:defRPr>
            </a:lvl1pPr>
            <a:lvl2pPr>
              <a:defRPr sz="2100" b="0">
                <a:solidFill>
                  <a:srgbClr val="B0B8B2"/>
                </a:solidFill>
              </a:defRPr>
            </a:lvl2pPr>
            <a:lvl3pPr>
              <a:defRPr sz="2100" b="0">
                <a:solidFill>
                  <a:srgbClr val="B0B8B2"/>
                </a:solidFill>
              </a:defRPr>
            </a:lvl3pPr>
            <a:lvl4pPr>
              <a:defRPr sz="2100" b="0">
                <a:solidFill>
                  <a:srgbClr val="B0B8B2"/>
                </a:solidFill>
              </a:defRPr>
            </a:lvl4pPr>
            <a:lvl5pPr>
              <a:defRPr sz="2100" b="0">
                <a:solidFill>
                  <a:srgbClr val="B0B8B2"/>
                </a:solidFill>
              </a:defRPr>
            </a:lvl5pPr>
            <a:lvl6pPr>
              <a:defRPr sz="2100" b="0">
                <a:solidFill>
                  <a:srgbClr val="B0B8B2"/>
                </a:solidFill>
              </a:defRPr>
            </a:lvl6pPr>
            <a:lvl7pPr>
              <a:defRPr sz="2100" b="0">
                <a:solidFill>
                  <a:srgbClr val="B0B8B2"/>
                </a:solidFill>
              </a:defRPr>
            </a:lvl7pPr>
            <a:lvl8pPr>
              <a:defRPr sz="2100" b="0">
                <a:solidFill>
                  <a:srgbClr val="B0B8B2"/>
                </a:solidFill>
              </a:defRPr>
            </a:lvl8pPr>
            <a:lvl9pPr>
              <a:defRPr sz="2100" b="0">
                <a:solidFill>
                  <a:srgbClr val="B0B8B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Proposed next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B0B8B2"/>
                </a:solidFill>
              </a:defRPr>
            </a:pPr>
            <a:r>
              <a:rPr sz="2100" b="0">
                <a:solidFill>
                  <a:srgbClr val="B0B8B2"/>
                </a:solidFill>
              </a:rPr>
              <a:t>Test with learners, evaluate feedback consistency and prepare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231561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2026-10-29T12:15:13.3280000Z</dcterms:created>
  <dcterms:modified xsi:type="dcterms:W3CDTF">2026-10-29T12:15:13.3280000Z</dcterms:modified>
</coreProperties>
</file>